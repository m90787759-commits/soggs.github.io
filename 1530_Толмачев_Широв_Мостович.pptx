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64" r:id="rId9"/>
    <p:sldId id="263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13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72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88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76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05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37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8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46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953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6099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946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A0F782D-8CB4-4D29-9462-B2A6982C00C9}" type="datetimeFigureOut">
              <a:rPr lang="ru-RU" smtClean="0"/>
              <a:t>03.02.2026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2C1339A-298B-4DB2-84D7-5077076F0D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7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A2A161-F943-3D7E-9125-B036FE5AF655}"/>
              </a:ext>
            </a:extLst>
          </p:cNvPr>
          <p:cNvSpPr txBox="1"/>
          <p:nvPr/>
        </p:nvSpPr>
        <p:spPr>
          <a:xfrm>
            <a:off x="2446946" y="446516"/>
            <a:ext cx="7298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 бюджетное общеобразовательное учреждение города Москвы «Школа №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1530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E2C8C7-80D8-D588-8379-C2D5B9E88E0E}"/>
              </a:ext>
            </a:extLst>
          </p:cNvPr>
          <p:cNvSpPr txBox="1"/>
          <p:nvPr/>
        </p:nvSpPr>
        <p:spPr>
          <a:xfrm>
            <a:off x="7038886" y="2969119"/>
            <a:ext cx="515311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Участник: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Ученики 10 «З» класса ГБОУ Школа № 1530 Толмачев Максим Евгеньевич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Широв Тимур-шейх Рашидович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Мостович Даниил Николаевич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62169C-66CA-2F74-9B1D-227EF7DD462D}"/>
              </a:ext>
            </a:extLst>
          </p:cNvPr>
          <p:cNvSpPr txBox="1"/>
          <p:nvPr/>
        </p:nvSpPr>
        <p:spPr>
          <a:xfrm>
            <a:off x="7038886" y="4600335"/>
            <a:ext cx="47941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педагоги ГБОУ Школа № 1530 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Гайчук Антон Сергеевич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Горелова Елена Владимировна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8A87D-1A7E-C5C0-489E-0052BCBD3565}"/>
              </a:ext>
            </a:extLst>
          </p:cNvPr>
          <p:cNvSpPr txBox="1"/>
          <p:nvPr/>
        </p:nvSpPr>
        <p:spPr>
          <a:xfrm>
            <a:off x="732090" y="1369264"/>
            <a:ext cx="10545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/>
              <a:t>РАЗРАБОТКА САЙТА ПО КОМПОЗИЦИОННЫМ ВРЕЗКАМ </a:t>
            </a:r>
          </a:p>
          <a:p>
            <a:pPr algn="ctr"/>
            <a:r>
              <a:rPr lang="ru-RU" sz="3200" b="1" dirty="0"/>
              <a:t> «WEBSITE FOR COMPOSITE SIDEBARS»</a:t>
            </a:r>
            <a:endParaRPr lang="ru-R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3825AB-4D7D-A336-2969-25A40C6EE80D}"/>
              </a:ext>
            </a:extLst>
          </p:cNvPr>
          <p:cNvSpPr txBox="1"/>
          <p:nvPr/>
        </p:nvSpPr>
        <p:spPr>
          <a:xfrm>
            <a:off x="5161660" y="6187092"/>
            <a:ext cx="1686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Москва, 2025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94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E53F4E5A-C9EE-4859-B46B-F018F7D73A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61AA2B-F04A-34C3-03F2-FAAEFC931BFF}"/>
              </a:ext>
            </a:extLst>
          </p:cNvPr>
          <p:cNvSpPr txBox="1"/>
          <p:nvPr/>
        </p:nvSpPr>
        <p:spPr>
          <a:xfrm>
            <a:off x="643468" y="4564674"/>
            <a:ext cx="4010820" cy="16154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700" b="1" spc="-50" dirty="0">
                <a:latin typeface="+mj-lt"/>
                <a:ea typeface="+mj-ea"/>
                <a:cs typeface="+mj-cs"/>
              </a:rPr>
              <a:t>Актуальность работы, </a:t>
            </a:r>
            <a:r>
              <a:rPr lang="ru-RU" sz="2800" b="1" spc="-50" dirty="0">
                <a:latin typeface="+mj-lt"/>
                <a:ea typeface="+mj-ea"/>
                <a:cs typeface="+mj-cs"/>
              </a:rPr>
              <a:t>п</a:t>
            </a:r>
            <a:r>
              <a:rPr lang="ru-RU" sz="2800" b="1" dirty="0"/>
              <a:t>остановка проблемы</a:t>
            </a:r>
            <a:endParaRPr lang="ru-RU" sz="2800" dirty="0"/>
          </a:p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700" b="1" spc="-50" dirty="0">
              <a:latin typeface="+mj-lt"/>
              <a:ea typeface="+mj-ea"/>
              <a:cs typeface="+mj-cs"/>
            </a:endParaRPr>
          </a:p>
        </p:txBody>
      </p:sp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559CF08B-29C8-D41B-0751-AF1975DEE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2767" y="395329"/>
            <a:ext cx="3462411" cy="331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27ECCD96-E1E7-A977-3F7E-E04F59061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68411" y="395329"/>
            <a:ext cx="3462411" cy="331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041A955B-D579-48FD-A51C-51B0C0B6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3000" y="4813604"/>
            <a:ext cx="0" cy="1117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ACF6E7-E705-42BF-0D76-F691D7C6B368}"/>
              </a:ext>
            </a:extLst>
          </p:cNvPr>
          <p:cNvSpPr txBox="1"/>
          <p:nvPr/>
        </p:nvSpPr>
        <p:spPr>
          <a:xfrm>
            <a:off x="5121221" y="3956704"/>
            <a:ext cx="6004197" cy="2755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indent="-182880" algn="just" defTabSz="914400">
              <a:spcAft>
                <a:spcPts val="600"/>
              </a:spcAft>
              <a:buClr>
                <a:schemeClr val="accent1"/>
              </a:buClr>
            </a:pPr>
            <a:r>
              <a:rPr lang="ru-RU" sz="2300" b="1" u="sng" dirty="0"/>
              <a:t>Актуальность:</a:t>
            </a:r>
            <a:r>
              <a:rPr lang="ru-RU" sz="2300" dirty="0"/>
              <a:t> н</a:t>
            </a:r>
            <a:r>
              <a:rPr lang="en-US" sz="2300" dirty="0"/>
              <a:t>еобходимость решения проблемы, с которой сталкиваются абитуриенты архитектурных вузов при подготовке к вступительному творческому испытанию по композиции.</a:t>
            </a:r>
            <a:r>
              <a:rPr lang="ru-RU" sz="2300" dirty="0"/>
              <a:t> </a:t>
            </a:r>
          </a:p>
          <a:p>
            <a:pPr indent="-182880" algn="just" defTabSz="914400">
              <a:spcAft>
                <a:spcPts val="600"/>
              </a:spcAft>
              <a:buClr>
                <a:schemeClr val="accent1"/>
              </a:buClr>
            </a:pPr>
            <a:r>
              <a:rPr lang="ru-RU" sz="2300" b="1" u="sng" dirty="0"/>
              <a:t>Постановка проблемы</a:t>
            </a:r>
            <a:r>
              <a:rPr lang="ru-RU" sz="2300" b="1" dirty="0"/>
              <a:t>: </a:t>
            </a:r>
            <a:r>
              <a:rPr lang="ru-RU" sz="2300" dirty="0"/>
              <a:t>абитурентам не всегда легко найти им нужную информацию и для этого лучше выделить специальный сайт, чтобы было легче найти все выше перечисленного.</a:t>
            </a:r>
          </a:p>
          <a:p>
            <a:pPr indent="-182880" defTabSz="914400">
              <a:spcAft>
                <a:spcPts val="600"/>
              </a:spcAft>
              <a:buClr>
                <a:schemeClr val="accent1"/>
              </a:buClr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686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85D6-D9B1-9198-8793-F56E4FF7A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930" y="15082"/>
            <a:ext cx="9692640" cy="1325562"/>
          </a:xfrm>
        </p:spPr>
        <p:txBody>
          <a:bodyPr/>
          <a:lstStyle/>
          <a:p>
            <a:r>
              <a:rPr lang="ru-RU" b="1" dirty="0"/>
              <a:t>Цель и задачи работы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F36A1-42BE-45BD-C48C-5146FA660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5" y="1445203"/>
            <a:ext cx="5537675" cy="1709159"/>
          </a:xfrm>
        </p:spPr>
        <p:txBody>
          <a:bodyPr/>
          <a:lstStyle/>
          <a:p>
            <a:pPr algn="just"/>
            <a:r>
              <a:rPr lang="ru-RU" sz="2000" b="1" u="sng" dirty="0"/>
              <a:t>Цель:</a:t>
            </a:r>
            <a:r>
              <a:rPr lang="ru-RU" sz="2000" b="1" dirty="0"/>
              <a:t> </a:t>
            </a:r>
            <a:r>
              <a:rPr lang="ru-RU" sz="2000" dirty="0"/>
              <a:t>разработка и внедрение интуитивно понятного и общедоступного веб-портала</a:t>
            </a:r>
            <a:r>
              <a:rPr lang="ru-RU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C962B-FA9A-8CEC-AA77-D652C85A8DCB}"/>
              </a:ext>
            </a:extLst>
          </p:cNvPr>
          <p:cNvSpPr txBox="1"/>
          <p:nvPr/>
        </p:nvSpPr>
        <p:spPr>
          <a:xfrm>
            <a:off x="0" y="2333002"/>
            <a:ext cx="705028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 hangingPunct="0">
              <a:buNone/>
            </a:pPr>
            <a:r>
              <a:rPr lang="ru-RU" sz="2000" b="1" u="sng" spc="10" dirty="0"/>
              <a:t>Задачи</a:t>
            </a:r>
            <a:r>
              <a:rPr lang="ru-RU" sz="2000" kern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hangingPunct="0">
              <a:buFont typeface="Arial" panose="020B0604020202020204" pitchFamily="34" charset="0"/>
              <a:buChar char="•"/>
            </a:pPr>
            <a:r>
              <a:rPr lang="ru-RU" sz="2000" dirty="0"/>
              <a:t>Изучить потребности абитуриентов и проанализировать существующие ресурсы для выявления недостающих материалов.</a:t>
            </a:r>
          </a:p>
          <a:p>
            <a:pPr marL="285750" lvl="0" indent="-285750" algn="just" hangingPunct="0">
              <a:buFont typeface="Arial" panose="020B0604020202020204" pitchFamily="34" charset="0"/>
              <a:buChar char="•"/>
            </a:pPr>
            <a:r>
              <a:rPr lang="ru-RU" sz="2000" dirty="0"/>
              <a:t>Разработать структуру и дизайн сайта с интуитивной навигацией и адаптивным интерфейсом.</a:t>
            </a:r>
          </a:p>
          <a:p>
            <a:pPr marL="285750" lvl="0" indent="-285750" algn="just" hangingPunct="0">
              <a:buFont typeface="Arial" panose="020B0604020202020204" pitchFamily="34" charset="0"/>
              <a:buChar char="•"/>
            </a:pPr>
            <a:r>
              <a:rPr lang="ru-RU" sz="2000" dirty="0"/>
              <a:t>Реализовать интерактивный выбор фигур и привязку к соответствующим видеоурокам (VK Video).</a:t>
            </a:r>
          </a:p>
          <a:p>
            <a:pPr marL="285750" lvl="0" indent="-285750" algn="just" hangingPunct="0">
              <a:buFont typeface="Arial" panose="020B0604020202020204" pitchFamily="34" charset="0"/>
              <a:buChar char="•"/>
            </a:pPr>
            <a:r>
              <a:rPr lang="ru-RU" sz="2000" dirty="0"/>
              <a:t>Наполнить сайт учебными материалами: требования, примеры композиций, методические рекомендации.</a:t>
            </a:r>
          </a:p>
          <a:p>
            <a:pPr marL="285750" lvl="0" indent="-285750" algn="just" hangingPunct="0">
              <a:buFont typeface="Arial" panose="020B0604020202020204" pitchFamily="34" charset="0"/>
              <a:buChar char="•"/>
            </a:pPr>
            <a:r>
              <a:rPr lang="ru-RU" sz="2000" dirty="0"/>
              <a:t>Протестировать и опубликовать ресурс, обеспечить его доступность через GitHub Pages и QR-код.</a:t>
            </a:r>
          </a:p>
          <a:p>
            <a:pPr indent="450215" algn="just" hangingPunct="0">
              <a:buNone/>
            </a:pPr>
            <a:endParaRPr lang="ru-RU" sz="1400" kern="15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502A0DCB-C9CD-156B-8A78-00D21AB42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202" y="1340644"/>
            <a:ext cx="3610776" cy="509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036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8969B-F5E9-B8AE-D760-BCDBAC565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pPr hangingPunct="0"/>
            <a:r>
              <a:rPr lang="ru-RU" sz="2800" b="1">
                <a:solidFill>
                  <a:srgbClr val="FFFFFF"/>
                </a:solidFill>
              </a:rPr>
              <a:t>Методика Выполнения работы</a:t>
            </a:r>
            <a:endParaRPr lang="ru-RU" sz="280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C4992-C797-1CBE-D466-9581185D1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 lnSpcReduction="10000"/>
          </a:bodyPr>
          <a:lstStyle/>
          <a:p>
            <a:pPr hangingPunct="0"/>
            <a:r>
              <a:rPr lang="ru-RU" sz="2000" b="1" dirty="0"/>
              <a:t>Этапы работы: </a:t>
            </a:r>
          </a:p>
          <a:p>
            <a:pPr lvl="0" hangingPunct="0"/>
            <a:r>
              <a:rPr lang="ru-RU" sz="2000" b="1" u="sng" dirty="0"/>
              <a:t>Сбор и анализ требований</a:t>
            </a:r>
            <a:r>
              <a:rPr lang="ru-RU" sz="2000" dirty="0"/>
              <a:t>: изучение формата экзамена, типовых задач по геометрическим врезкам и анализ существующих онлайн-ресурсов.</a:t>
            </a:r>
          </a:p>
          <a:p>
            <a:pPr lvl="0" hangingPunct="0"/>
            <a:r>
              <a:rPr lang="ru-RU" sz="2000" b="1" u="sng" dirty="0"/>
              <a:t>Проектирование интерфейса</a:t>
            </a:r>
            <a:r>
              <a:rPr lang="ru-RU" sz="2000" dirty="0"/>
              <a:t>: Разработка структуры и макетов сайта с адаптивным дизайном (Mobile-first).</a:t>
            </a:r>
          </a:p>
          <a:p>
            <a:pPr lvl="0" hangingPunct="0"/>
            <a:r>
              <a:rPr lang="ru-RU" sz="2000" b="1" u="sng" dirty="0"/>
              <a:t>Разработка прототипа</a:t>
            </a:r>
            <a:r>
              <a:rPr lang="ru-RU" sz="2000" dirty="0"/>
              <a:t>: Создание веб-сайта на HTML5, CSS3 (Grid/Flexbox) и JavaScript с интерактивными элементами.</a:t>
            </a:r>
          </a:p>
          <a:p>
            <a:pPr lvl="0" hangingPunct="0"/>
            <a:r>
              <a:rPr lang="ru-RU" sz="2000" b="1" u="sng" dirty="0"/>
              <a:t>Наполнение и интеграция</a:t>
            </a:r>
            <a:r>
              <a:rPr lang="ru-RU" sz="2000" dirty="0"/>
              <a:t>: Добавление учебных материалов, видео (VK Video) и шрифтов (Google Fonts).</a:t>
            </a:r>
          </a:p>
          <a:p>
            <a:pPr lvl="0" hangingPunct="0"/>
            <a:r>
              <a:rPr lang="ru-RU" sz="2000" b="1" u="sng" dirty="0"/>
              <a:t>Тестирование и публикация</a:t>
            </a:r>
            <a:r>
              <a:rPr lang="ru-RU" sz="2000" dirty="0"/>
              <a:t>: Проверка функциональности и адаптивности, размещение на GitHub Pages.</a:t>
            </a:r>
          </a:p>
          <a:p>
            <a:pPr marL="0" indent="0">
              <a:buNone/>
            </a:pPr>
            <a:endParaRPr lang="ru-RU" sz="1700" dirty="0"/>
          </a:p>
        </p:txBody>
      </p:sp>
    </p:spTree>
    <p:extLst>
      <p:ext uri="{BB962C8B-B14F-4D97-AF65-F5344CB8AC3E}">
        <p14:creationId xmlns:p14="http://schemas.microsoft.com/office/powerpoint/2010/main" val="163440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CDF5D3-7220-42A0-9D37-ECF3BF28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0"/>
            <a:ext cx="10835640" cy="5105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BC717F-58B3-4A4E-BC3B-1B11323AD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5105400"/>
            <a:ext cx="10835640" cy="17526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87615-9B43-A305-C8D7-11B410716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83" y="5181600"/>
            <a:ext cx="10156435" cy="107632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 b="1" dirty="0" err="1">
                <a:solidFill>
                  <a:srgbClr val="FFFFFF"/>
                </a:solidFill>
              </a:rPr>
              <a:t>Итог</a:t>
            </a:r>
            <a:r>
              <a:rPr lang="en-US" sz="5400" b="1" dirty="0">
                <a:solidFill>
                  <a:srgbClr val="FFFFFF"/>
                </a:solidFill>
              </a:rPr>
              <a:t> </a:t>
            </a:r>
            <a:r>
              <a:rPr lang="en-US" sz="5400" b="1" dirty="0" err="1">
                <a:solidFill>
                  <a:srgbClr val="FFFFFF"/>
                </a:solidFill>
              </a:rPr>
              <a:t>работы</a:t>
            </a:r>
            <a:endParaRPr lang="en-US" sz="5400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75710-64C5-4CA8-8A7C-82EE4125C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D03A7B-A53A-1710-5CED-154103C0E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0"/>
            <a:ext cx="10835640" cy="51054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35050B1-74E1-4A81-923D-0F5971A3B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89916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2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8D14-2FDF-8F32-5A92-1F4E430A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285C87-8378-07DA-2AD3-E67D4CA06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59" y="0"/>
            <a:ext cx="6927715" cy="360565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1023FF-A4B0-99BD-F4DB-834FC342EC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988" y="3154850"/>
            <a:ext cx="5533895" cy="3625450"/>
          </a:xfrm>
        </p:spPr>
      </p:pic>
    </p:spTree>
    <p:extLst>
      <p:ext uri="{BB962C8B-B14F-4D97-AF65-F5344CB8AC3E}">
        <p14:creationId xmlns:p14="http://schemas.microsoft.com/office/powerpoint/2010/main" val="287208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FFDA05-9640-4040-B33E-D46FD0443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B47316-5A6E-0C4A-013D-7D40C098F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81"/>
          <a:stretch>
            <a:fillRect/>
          </a:stretch>
        </p:blipFill>
        <p:spPr>
          <a:xfrm>
            <a:off x="20" y="10"/>
            <a:ext cx="122072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61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E2804-A9F2-772D-9013-AF731522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590" y="-442601"/>
            <a:ext cx="9692640" cy="1325562"/>
          </a:xfrm>
        </p:spPr>
        <p:txBody>
          <a:bodyPr/>
          <a:lstStyle/>
          <a:p>
            <a:pPr algn="ctr"/>
            <a:r>
              <a:rPr lang="ru-RU" b="1" dirty="0"/>
              <a:t>Вывод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99112-8F50-1CA7-B18C-EB153DD5C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0774"/>
            <a:ext cx="11220627" cy="48540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dirty="0"/>
              <a:t>•  Изучены потребности абитуриентов и проанализированы существующие ресурсы для выявления недостающих материалов.</a:t>
            </a:r>
          </a:p>
          <a:p>
            <a:pPr marL="0" indent="0" algn="just">
              <a:buNone/>
            </a:pPr>
            <a:r>
              <a:rPr lang="ru-RU" sz="2000" dirty="0"/>
              <a:t>•  Разработана структура и дизайн сайта с интуитивной навигацией и адаптивным интерфейсом.</a:t>
            </a:r>
          </a:p>
          <a:p>
            <a:pPr marL="0" indent="0" algn="just">
              <a:buNone/>
            </a:pPr>
            <a:r>
              <a:rPr lang="ru-RU" sz="2000" dirty="0"/>
              <a:t>•  Реализован интерактивный выбор фигур и привязан к соответствующим видеоурокам (VK Video).</a:t>
            </a:r>
          </a:p>
          <a:p>
            <a:pPr marL="0" indent="0" algn="just">
              <a:buNone/>
            </a:pPr>
            <a:r>
              <a:rPr lang="ru-RU" sz="2000" dirty="0"/>
              <a:t>•  Сайт наполнен учебными материалами: требования, примеры композиций, методические рекомендации.</a:t>
            </a:r>
          </a:p>
          <a:p>
            <a:pPr marL="0" indent="0" algn="just">
              <a:buNone/>
            </a:pPr>
            <a:r>
              <a:rPr lang="ru-RU" sz="2000" dirty="0"/>
              <a:t>•  Протестирован и опубликован ресурс, который доступен через GitHub Pages и QR-код.</a:t>
            </a:r>
          </a:p>
          <a:p>
            <a:pPr marL="0" indent="0" algn="just">
              <a:buNone/>
            </a:pPr>
            <a:endParaRPr lang="ru-RU" sz="2000" dirty="0"/>
          </a:p>
          <a:p>
            <a:pPr marL="0" indent="0" algn="just">
              <a:buNone/>
            </a:pPr>
            <a:r>
              <a:rPr lang="ru-RU" sz="2000" dirty="0"/>
              <a:t>	Решение является масштабируемым, доступным и педагогически эффективным, что подтверждает его ценность как для абитуриентов, так и для образовательных учреждений архитектурного профиля.</a:t>
            </a:r>
          </a:p>
        </p:txBody>
      </p:sp>
    </p:spTree>
    <p:extLst>
      <p:ext uri="{BB962C8B-B14F-4D97-AF65-F5344CB8AC3E}">
        <p14:creationId xmlns:p14="http://schemas.microsoft.com/office/powerpoint/2010/main" val="12537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0FF873-0D97-4AE7-A97E-539910376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9E510-31AB-84F6-BFBD-287DFDBCA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5651" y="916406"/>
            <a:ext cx="4673710" cy="46737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0E376A-B552-60D4-B7D5-DF063E54CBC8}"/>
              </a:ext>
            </a:extLst>
          </p:cNvPr>
          <p:cNvSpPr txBox="1"/>
          <p:nvPr/>
        </p:nvSpPr>
        <p:spPr>
          <a:xfrm>
            <a:off x="743484" y="5758525"/>
            <a:ext cx="1039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https://m90787759-commits.github.io/soggs.github.io/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82790-BE0C-A5E8-0E28-CBDF1B93CF66}"/>
              </a:ext>
            </a:extLst>
          </p:cNvPr>
          <p:cNvSpPr txBox="1"/>
          <p:nvPr/>
        </p:nvSpPr>
        <p:spPr>
          <a:xfrm>
            <a:off x="361950" y="0"/>
            <a:ext cx="11706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b="1" i="1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37058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A63C-F851-9FD9-7FB3-69A97374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511" y="0"/>
            <a:ext cx="9692640" cy="1325562"/>
          </a:xfrm>
        </p:spPr>
        <p:txBody>
          <a:bodyPr/>
          <a:lstStyle/>
          <a:p>
            <a:pPr algn="ctr" hangingPunct="0"/>
            <a:r>
              <a:rPr lang="ru-RU" b="1" dirty="0"/>
              <a:t>Список пользуемой литературы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6597-BE86-3101-0C1C-7F71AAAF3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736" y="2555193"/>
            <a:ext cx="10434415" cy="4537817"/>
          </a:xfrm>
        </p:spPr>
        <p:txBody>
          <a:bodyPr/>
          <a:lstStyle/>
          <a:p>
            <a:pPr algn="just" hangingPunct="0"/>
            <a:r>
              <a:rPr lang="ru-RU" sz="2000" dirty="0"/>
              <a:t>Ткачёв В.Н. - Архитектурный дизайн (функциональные и художественные основы проектирования), издательство "Архитектура-С", 2006</a:t>
            </a:r>
          </a:p>
          <a:p>
            <a:pPr algn="just" hangingPunct="0"/>
            <a:r>
              <a:rPr lang="ru-RU" sz="2000" dirty="0"/>
              <a:t>Кэй С.Хорстман - Современный JavaScript для нетерпеливых / пер. с англ. А. А. Слинкина. – М.: ДМК Пресс, 2021. – 288 с.: ил.</a:t>
            </a:r>
          </a:p>
          <a:p>
            <a:pPr algn="just" hangingPunct="0"/>
            <a:r>
              <a:rPr lang="ru-RU" sz="2000" dirty="0"/>
              <a:t>Фримен, Э., Робсон, К. HTML5 и CSS3. Разработка сайтов для любых браузеров и устройств: пер. с англ. – М.: ДМК Пресс, 2020. – 472 с.</a:t>
            </a:r>
          </a:p>
          <a:p>
            <a:pPr algn="just" hangingPunct="0"/>
            <a:r>
              <a:rPr lang="ru-RU" sz="2000" dirty="0"/>
              <a:t>Иванченко О.А. – Веб-дизайн и UX/UI: принципы проектирования интерфейсов. – М.: Питер, 2022.</a:t>
            </a:r>
          </a:p>
          <a:p>
            <a:pPr algn="just" hangingPunct="0"/>
            <a:r>
              <a:rPr lang="en-US" sz="2000" dirty="0"/>
              <a:t>W3Schools – Online Web Tutorials [</a:t>
            </a:r>
            <a:r>
              <a:rPr lang="ru-RU" sz="2000" dirty="0"/>
              <a:t>Электронный ресурс</a:t>
            </a:r>
            <a:r>
              <a:rPr lang="en-US" sz="2000" dirty="0"/>
              <a:t>]. – URL: </a:t>
            </a:r>
            <a:r>
              <a:rPr lang="en-US" sz="2000" dirty="0">
                <a:hlinkClick r:id="rId2"/>
              </a:rPr>
              <a:t>https://www.w3schools.com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110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289</TotalTime>
  <Words>539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Schoolbook</vt:lpstr>
      <vt:lpstr>Times New Roman</vt:lpstr>
      <vt:lpstr>Wingdings 2</vt:lpstr>
      <vt:lpstr>View</vt:lpstr>
      <vt:lpstr>Презентация PowerPoint</vt:lpstr>
      <vt:lpstr>Презентация PowerPoint</vt:lpstr>
      <vt:lpstr>Цель и задачи работы</vt:lpstr>
      <vt:lpstr>Методика Выполнения работы</vt:lpstr>
      <vt:lpstr>Итог работы</vt:lpstr>
      <vt:lpstr>Презентация PowerPoint</vt:lpstr>
      <vt:lpstr>Презентация PowerPoint</vt:lpstr>
      <vt:lpstr>Вывод</vt:lpstr>
      <vt:lpstr>Презентация PowerPoint</vt:lpstr>
      <vt:lpstr>Список пользуемой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 mostovich</dc:creator>
  <cp:lastModifiedBy>Admin</cp:lastModifiedBy>
  <cp:revision>10</cp:revision>
  <dcterms:created xsi:type="dcterms:W3CDTF">2025-12-03T02:17:10Z</dcterms:created>
  <dcterms:modified xsi:type="dcterms:W3CDTF">2026-02-03T05:52:07Z</dcterms:modified>
</cp:coreProperties>
</file>